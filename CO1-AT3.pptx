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8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di Rama Krishna" userId="2b7f859ce9e88890" providerId="LiveId" clId="{C97F0BE6-D7D0-41C0-B1F9-EFB1D2306E39}"/>
    <pc:docChg chg="modSld sldOrd">
      <pc:chgData name="Gudi Rama Krishna" userId="2b7f859ce9e88890" providerId="LiveId" clId="{C97F0BE6-D7D0-41C0-B1F9-EFB1D2306E39}" dt="2026-07-22T09:24:51.444" v="1"/>
      <pc:docMkLst>
        <pc:docMk/>
      </pc:docMkLst>
      <pc:sldChg chg="ord">
        <pc:chgData name="Gudi Rama Krishna" userId="2b7f859ce9e88890" providerId="LiveId" clId="{C97F0BE6-D7D0-41C0-B1F9-EFB1D2306E39}" dt="2026-07-22T09:24:51.444" v="1"/>
        <pc:sldMkLst>
          <pc:docMk/>
          <pc:sldMk cId="191932797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85210-43FE-D208-113E-337122ED5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6DD984-B3F4-4930-86E7-16A44C2BE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9EA1E-3A8F-8EE3-7E6C-13951DF6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2730F-DFA3-0AEB-3A96-C3197C170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4573-5FCB-40D7-05BB-8382EF81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462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C7FE-7D8F-E095-0C88-1B29CD209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1C802-E599-8708-3B38-415AB3979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FB46F-4CB8-797E-4336-FCF100C78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11EE9-D2C8-00FC-0E76-895BEE2A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73F2E-B5BA-310C-A235-635FE159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74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3D98-0A32-B738-4E40-3DC29BD18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620C4-4D11-3F5F-0A89-97EBAA497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8C395-452A-068B-BD8D-7A1AD7A5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8AAED-0251-324E-D355-60E35700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4309E-42FE-77EF-B4E9-7DA81822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66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06F5-E701-575C-D972-DED960B8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922B1-CFAC-1920-9E07-5827F4B9C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31177-A330-E2F2-E410-669A4186B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1AB2D-9428-AC66-2694-2FD495AB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C7C1D-156A-F6FC-5F3F-F1F483DE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DFB9A-0308-2B6F-0003-CEEAE5E1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052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F3FF-6C59-AA3B-A41D-4AB5472F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0BA27-8E79-F8D0-D405-CCBA746A0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9B840-7173-67DE-A96D-3C8792393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4E196-A421-74A5-2845-4F74F8718C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E63BC-A39D-6BA2-61B2-E984E66D66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81AAC-1D95-2CAB-3379-348B2DBA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9B788E-AA50-04CA-D8DD-3F8AF9B69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DD1032-7980-F24A-F6A5-45A660AB6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294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9CFB-AB46-A4B0-C5A4-7780D5013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971407-8D3F-CCD4-56D1-D42238852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883AD-8807-1D08-9469-F730BFF6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442CD-32F1-B452-F2F5-F5B0BACE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576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067F8-5F4F-D8D9-1CD5-F4E0B3A77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5090CA-A5E7-C016-5E17-4AEA46D0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9EB2F-4142-6B59-BB4C-86B31828A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203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40FE6-DBCD-FB4B-22D5-839FE4129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C8F19-042C-0918-EEE7-A706E1C44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27038-7734-E2EE-51E4-52BFFFEBE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2B475-3C82-E323-0F9D-B621133F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5DE2D-0627-6B40-89B9-B66CC66D4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587F4-503D-AA4F-D405-B58CF28A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54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61BF-3271-769F-C08F-63DC08155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DFE34C-1EBA-5058-95CE-3B17ABD46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4182C-124E-D305-AA94-48AAB769E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EB669-5335-0C5B-8FEF-A3DE9205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B0387-4BD3-2987-526A-536916696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B0081-D1AE-1037-BCA8-9D6EE1F42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2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543F-0504-BCF2-5529-2E6A87B5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75FB7-AB91-0909-5AFA-317487A95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9D4D-3395-4DD4-24EE-82165247E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1ABAF-B2AD-F242-B6BD-512F02A2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83A18-1003-9E0B-C880-36D55E99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80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694985-B1FB-CE2A-E4D2-4B899882E0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543C1-F7A4-ABF4-C195-7714D891F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705FA-6ADA-7138-BEAA-09C6B2A38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79FFC-A46E-C578-AF7D-434BF010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602DE-7F29-A2BC-CD4D-2EED5A3E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764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249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048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366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76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463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2729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588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9823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81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0212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587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C0652D-9C99-69BA-0F5B-0FB6DFDDA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B5A24-1070-75BE-5BDE-4B6D3FBCD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ECA9-E446-6580-C836-476EB3B76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73AD8-B8DB-9957-D462-62E92F5CB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CA669-8F49-3FD0-C929-6FA50AEFE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0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B567B-5D57-4DA5-9DCA-84C6D48D8684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D2F47-C724-4A5A-AB0C-40821BF9C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402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E882B2F4-A09B-A81B-5AEE-4FC4B56EA043}"/>
              </a:ext>
            </a:extLst>
          </p:cNvPr>
          <p:cNvGrpSpPr/>
          <p:nvPr/>
        </p:nvGrpSpPr>
        <p:grpSpPr>
          <a:xfrm>
            <a:off x="495300" y="379571"/>
            <a:ext cx="11049000" cy="1347395"/>
            <a:chOff x="1552061" y="196784"/>
            <a:chExt cx="11531761" cy="2954402"/>
          </a:xfrm>
        </p:grpSpPr>
        <p:sp>
          <p:nvSpPr>
            <p:cNvPr id="3" name="Freeform 7" descr="SIMATS ENGINEERING —BIOTECHNOLOGY">
              <a:extLst>
                <a:ext uri="{FF2B5EF4-FFF2-40B4-BE49-F238E27FC236}">
                  <a16:creationId xmlns:a16="http://schemas.microsoft.com/office/drawing/2014/main" id="{55032D05-6553-B473-72C7-64CE71F4D519}"/>
                </a:ext>
              </a:extLst>
            </p:cNvPr>
            <p:cNvSpPr/>
            <p:nvPr/>
          </p:nvSpPr>
          <p:spPr>
            <a:xfrm>
              <a:off x="1552061" y="196784"/>
              <a:ext cx="11531761" cy="2954402"/>
            </a:xfrm>
            <a:custGeom>
              <a:avLst/>
              <a:gdLst/>
              <a:ahLst/>
              <a:cxnLst/>
              <a:rect l="l" t="t" r="r" b="b"/>
              <a:pathLst>
                <a:path w="22961473" h="2954401">
                  <a:moveTo>
                    <a:pt x="0" y="0"/>
                  </a:moveTo>
                  <a:lnTo>
                    <a:pt x="22961473" y="0"/>
                  </a:lnTo>
                  <a:lnTo>
                    <a:pt x="22961473" y="2954401"/>
                  </a:lnTo>
                  <a:lnTo>
                    <a:pt x="0" y="2954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89F0955-CA5C-5CC2-6E8D-3E58081F0540}"/>
              </a:ext>
            </a:extLst>
          </p:cNvPr>
          <p:cNvSpPr txBox="1"/>
          <p:nvPr/>
        </p:nvSpPr>
        <p:spPr>
          <a:xfrm>
            <a:off x="1400175" y="2549525"/>
            <a:ext cx="88773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sz="3200" b="1" dirty="0"/>
              <a:t>Analysing Recursive Algorithms Using the Recursion Tree Method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prstClr val="black"/>
                </a:solidFill>
                <a:latin typeface="Calibri"/>
              </a:rPr>
              <a:t>Technical Presentation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3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Bold"/>
                <a:ea typeface="Times New Roman Bold"/>
                <a:cs typeface="Times New Roman Bold"/>
                <a:sym typeface="Times New Roman Bold"/>
              </a:rPr>
              <a:t>(CSA0614)-Design and Analysis of Algorithms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9F86E-1F87-BB5E-C3FB-AF5469C5B59D}"/>
              </a:ext>
            </a:extLst>
          </p:cNvPr>
          <p:cNvSpPr txBox="1"/>
          <p:nvPr/>
        </p:nvSpPr>
        <p:spPr>
          <a:xfrm>
            <a:off x="923925" y="4886325"/>
            <a:ext cx="2533650" cy="1111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32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by:</a:t>
            </a:r>
          </a:p>
          <a:p>
            <a:pPr>
              <a:lnSpc>
                <a:spcPts val="432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A. Sairam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DA654D-CAD0-DA4A-EB80-9A36646EA3AF}"/>
              </a:ext>
            </a:extLst>
          </p:cNvPr>
          <p:cNvSpPr txBox="1"/>
          <p:nvPr/>
        </p:nvSpPr>
        <p:spPr>
          <a:xfrm>
            <a:off x="8829675" y="4800600"/>
            <a:ext cx="3295650" cy="1331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3824"/>
              </a:lnSpc>
            </a:pPr>
            <a: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</a:t>
            </a:r>
          </a:p>
          <a:p>
            <a:pPr algn="just">
              <a:lnSpc>
                <a:spcPts val="3712"/>
              </a:lnSpc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Rama Krishna (192565028)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365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3E6BA3-6040-FCCF-5F74-41517C68DA57}"/>
              </a:ext>
            </a:extLst>
          </p:cNvPr>
          <p:cNvSpPr txBox="1"/>
          <p:nvPr/>
        </p:nvSpPr>
        <p:spPr>
          <a:xfrm>
            <a:off x="-686844" y="1186266"/>
            <a:ext cx="7162800" cy="78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015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B6B32F-9CB5-1BA2-FE7B-1DB1808B1F0E}"/>
                  </a:ext>
                </a:extLst>
              </p:cNvPr>
              <p:cNvSpPr txBox="1"/>
              <p:nvPr/>
            </p:nvSpPr>
            <p:spPr>
              <a:xfrm>
                <a:off x="465667" y="2208738"/>
                <a:ext cx="11209866" cy="4045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A </a:t>
                </a:r>
                <a:r>
                  <a:rPr lang="en-IN" sz="2800" b="1" dirty="0"/>
                  <a:t>recurrence relation</a:t>
                </a:r>
                <a:r>
                  <a:rPr lang="en-IN" sz="2800" dirty="0"/>
                  <a:t> represents the running time of a recursive algorithm.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 </a:t>
                </a:r>
                <a:r>
                  <a:rPr lang="en-IN" sz="2800" b="1" dirty="0"/>
                  <a:t>Recursion Tree Method</a:t>
                </a:r>
                <a:r>
                  <a:rPr lang="en-IN" sz="2800" dirty="0"/>
                  <a:t> is used to </a:t>
                </a:r>
                <a:r>
                  <a:rPr lang="en-IN" sz="2800" dirty="0" err="1"/>
                  <a:t>analyze</a:t>
                </a:r>
                <a:r>
                  <a:rPr lang="en-IN" sz="2800" dirty="0"/>
                  <a:t> recurrence relations by expanding recursive calls into a tree.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It calculates the </a:t>
                </a:r>
                <a:r>
                  <a:rPr lang="en-IN" sz="2800" b="1" dirty="0"/>
                  <a:t>cost at each level</a:t>
                </a:r>
                <a:r>
                  <a:rPr lang="en-IN" sz="2800" dirty="0"/>
                  <a:t> and sums them to determine the overall </a:t>
                </a:r>
                <a:r>
                  <a:rPr lang="en-IN" sz="2800" b="1" dirty="0"/>
                  <a:t>time complexity</a:t>
                </a:r>
                <a:r>
                  <a:rPr lang="en-IN" sz="2800" dirty="0"/>
                  <a:t>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In this presentation, we analyse the recurrence: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=2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borderBox>
                    </m:oMath>
                  </m:oMathPara>
                </a14:m>
                <a:endParaRPr lang="en-IN" sz="2400" dirty="0"/>
              </a:p>
              <a:p>
                <a:pPr algn="just"/>
                <a:r>
                  <a:rPr lang="en-IN" sz="28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B6B32F-9CB5-1BA2-FE7B-1DB1808B1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67" y="2208738"/>
                <a:ext cx="11209866" cy="4045916"/>
              </a:xfrm>
              <a:prstGeom prst="rect">
                <a:avLst/>
              </a:prstGeom>
              <a:blipFill>
                <a:blip r:embed="rId2"/>
                <a:stretch>
                  <a:fillRect l="-979" t="-1506" r="-2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2">
            <a:extLst>
              <a:ext uri="{FF2B5EF4-FFF2-40B4-BE49-F238E27FC236}">
                <a16:creationId xmlns:a16="http://schemas.microsoft.com/office/drawing/2014/main" id="{93951A30-9769-C45F-14FA-00234AE0C2B9}"/>
              </a:ext>
            </a:extLst>
          </p:cNvPr>
          <p:cNvGrpSpPr/>
          <p:nvPr/>
        </p:nvGrpSpPr>
        <p:grpSpPr>
          <a:xfrm>
            <a:off x="252956" y="52790"/>
            <a:ext cx="1516682" cy="1251078"/>
            <a:chOff x="0" y="0"/>
            <a:chExt cx="2022242" cy="2661932"/>
          </a:xfrm>
        </p:grpSpPr>
        <p:sp>
          <p:nvSpPr>
            <p:cNvPr id="5" name="Freeform 3" descr="Saveetha School of Engineering: Courses, Admission 2025, Fees, Scholarship,  Placements, Ranking">
              <a:extLst>
                <a:ext uri="{FF2B5EF4-FFF2-40B4-BE49-F238E27FC236}">
                  <a16:creationId xmlns:a16="http://schemas.microsoft.com/office/drawing/2014/main" id="{7E4CC0AE-8A18-F076-442E-25F2FB5D4420}"/>
                </a:ext>
              </a:extLst>
            </p:cNvPr>
            <p:cNvSpPr/>
            <p:nvPr/>
          </p:nvSpPr>
          <p:spPr>
            <a:xfrm>
              <a:off x="0" y="0"/>
              <a:ext cx="2022221" cy="2661920"/>
            </a:xfrm>
            <a:custGeom>
              <a:avLst/>
              <a:gdLst/>
              <a:ahLst/>
              <a:cxnLst/>
              <a:rect l="l" t="t" r="r" b="b"/>
              <a:pathLst>
                <a:path w="2022221" h="2661920">
                  <a:moveTo>
                    <a:pt x="0" y="0"/>
                  </a:moveTo>
                  <a:lnTo>
                    <a:pt x="2022221" y="0"/>
                  </a:lnTo>
                  <a:lnTo>
                    <a:pt x="2022221" y="2661920"/>
                  </a:lnTo>
                  <a:lnTo>
                    <a:pt x="0" y="266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6" name="Group 4">
            <a:extLst>
              <a:ext uri="{FF2B5EF4-FFF2-40B4-BE49-F238E27FC236}">
                <a16:creationId xmlns:a16="http://schemas.microsoft.com/office/drawing/2014/main" id="{93EE8BDB-02C6-67D7-7929-C243F5500821}"/>
              </a:ext>
            </a:extLst>
          </p:cNvPr>
          <p:cNvGrpSpPr/>
          <p:nvPr/>
        </p:nvGrpSpPr>
        <p:grpSpPr>
          <a:xfrm>
            <a:off x="10192443" y="116481"/>
            <a:ext cx="1885256" cy="998067"/>
            <a:chOff x="0" y="0"/>
            <a:chExt cx="2513674" cy="2513674"/>
          </a:xfrm>
        </p:grpSpPr>
        <p:sp>
          <p:nvSpPr>
            <p:cNvPr id="7" name="Freeform 5" descr="Saveetha Institute of Medical and Technical Sciences -SIMATS | Chennai">
              <a:extLst>
                <a:ext uri="{FF2B5EF4-FFF2-40B4-BE49-F238E27FC236}">
                  <a16:creationId xmlns:a16="http://schemas.microsoft.com/office/drawing/2014/main" id="{0D020C77-27AB-D7FA-EA96-A9A138B7A867}"/>
                </a:ext>
              </a:extLst>
            </p:cNvPr>
            <p:cNvSpPr/>
            <p:nvPr/>
          </p:nvSpPr>
          <p:spPr>
            <a:xfrm>
              <a:off x="0" y="0"/>
              <a:ext cx="2513711" cy="2513711"/>
            </a:xfrm>
            <a:custGeom>
              <a:avLst/>
              <a:gdLst/>
              <a:ahLst/>
              <a:cxnLst/>
              <a:rect l="l" t="t" r="r" b="b"/>
              <a:pathLst>
                <a:path w="2513711" h="2513711">
                  <a:moveTo>
                    <a:pt x="0" y="0"/>
                  </a:moveTo>
                  <a:lnTo>
                    <a:pt x="2513711" y="0"/>
                  </a:lnTo>
                  <a:lnTo>
                    <a:pt x="2513711" y="2513711"/>
                  </a:lnTo>
                  <a:lnTo>
                    <a:pt x="0" y="2513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91932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1D18D6-0CD8-611C-D23A-B58964EE6974}"/>
              </a:ext>
            </a:extLst>
          </p:cNvPr>
          <p:cNvSpPr txBox="1"/>
          <p:nvPr/>
        </p:nvSpPr>
        <p:spPr>
          <a:xfrm>
            <a:off x="711201" y="1645767"/>
            <a:ext cx="574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Problem Statement</a:t>
            </a:r>
            <a:endParaRPr lang="en-IN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BB7A06-4278-8B11-FEB2-F167A8164C32}"/>
                  </a:ext>
                </a:extLst>
              </p:cNvPr>
              <p:cNvSpPr txBox="1"/>
              <p:nvPr/>
            </p:nvSpPr>
            <p:spPr>
              <a:xfrm>
                <a:off x="545042" y="2490258"/>
                <a:ext cx="7467600" cy="3545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Analyse the 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IN" sz="2800">
                              <a:latin typeface="Cambria Math" panose="02040503050406030204" pitchFamily="18" charset="0"/>
                            </a:rPr>
                            <m:t>=2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80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  <m:r>
                            <a:rPr lang="en-IN" sz="280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borderBox>
                    </m:oMath>
                  </m:oMathPara>
                </a14:m>
                <a:endParaRPr lang="en-IN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b="1" dirty="0"/>
                  <a:t>Objective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Construct the recursion tree.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Find the cost at each level.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Determine the total time complexity.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Verify the result using the </a:t>
                </a:r>
                <a:r>
                  <a:rPr lang="en-IN" sz="2800" b="1" dirty="0"/>
                  <a:t>Master Theorem</a:t>
                </a:r>
                <a:r>
                  <a:rPr lang="en-IN" sz="2800" dirty="0"/>
                  <a:t>.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BB7A06-4278-8B11-FEB2-F167A8164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42" y="2490258"/>
                <a:ext cx="7467600" cy="3545394"/>
              </a:xfrm>
              <a:prstGeom prst="rect">
                <a:avLst/>
              </a:prstGeom>
              <a:blipFill>
                <a:blip r:embed="rId2"/>
                <a:stretch>
                  <a:fillRect l="-1469" t="-1893" r="-2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2">
            <a:extLst>
              <a:ext uri="{FF2B5EF4-FFF2-40B4-BE49-F238E27FC236}">
                <a16:creationId xmlns:a16="http://schemas.microsoft.com/office/drawing/2014/main" id="{472697FE-5E50-C78C-5F47-CD91E912AEA3}"/>
              </a:ext>
            </a:extLst>
          </p:cNvPr>
          <p:cNvGrpSpPr/>
          <p:nvPr/>
        </p:nvGrpSpPr>
        <p:grpSpPr>
          <a:xfrm>
            <a:off x="176728" y="55030"/>
            <a:ext cx="1516682" cy="1231903"/>
            <a:chOff x="0" y="0"/>
            <a:chExt cx="2022242" cy="2661932"/>
          </a:xfrm>
        </p:grpSpPr>
        <p:sp>
          <p:nvSpPr>
            <p:cNvPr id="6" name="Freeform 3" descr="Saveetha School of Engineering: Courses, Admission 2025, Fees, Scholarship,  Placements, Ranking">
              <a:extLst>
                <a:ext uri="{FF2B5EF4-FFF2-40B4-BE49-F238E27FC236}">
                  <a16:creationId xmlns:a16="http://schemas.microsoft.com/office/drawing/2014/main" id="{05EFA98D-55FE-F159-E167-65319792FC47}"/>
                </a:ext>
              </a:extLst>
            </p:cNvPr>
            <p:cNvSpPr/>
            <p:nvPr/>
          </p:nvSpPr>
          <p:spPr>
            <a:xfrm>
              <a:off x="0" y="0"/>
              <a:ext cx="2022221" cy="2661920"/>
            </a:xfrm>
            <a:custGeom>
              <a:avLst/>
              <a:gdLst/>
              <a:ahLst/>
              <a:cxnLst/>
              <a:rect l="l" t="t" r="r" b="b"/>
              <a:pathLst>
                <a:path w="2022221" h="2661920">
                  <a:moveTo>
                    <a:pt x="0" y="0"/>
                  </a:moveTo>
                  <a:lnTo>
                    <a:pt x="2022221" y="0"/>
                  </a:lnTo>
                  <a:lnTo>
                    <a:pt x="2022221" y="2661920"/>
                  </a:lnTo>
                  <a:lnTo>
                    <a:pt x="0" y="266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7" name="Group 4">
            <a:extLst>
              <a:ext uri="{FF2B5EF4-FFF2-40B4-BE49-F238E27FC236}">
                <a16:creationId xmlns:a16="http://schemas.microsoft.com/office/drawing/2014/main" id="{472F88DB-C0B0-E964-0225-1022902975C4}"/>
              </a:ext>
            </a:extLst>
          </p:cNvPr>
          <p:cNvGrpSpPr/>
          <p:nvPr/>
        </p:nvGrpSpPr>
        <p:grpSpPr>
          <a:xfrm>
            <a:off x="10129988" y="143813"/>
            <a:ext cx="1885256" cy="1049987"/>
            <a:chOff x="0" y="0"/>
            <a:chExt cx="2513674" cy="2513674"/>
          </a:xfrm>
        </p:grpSpPr>
        <p:sp>
          <p:nvSpPr>
            <p:cNvPr id="8" name="Freeform 5" descr="Saveetha Institute of Medical and Technical Sciences -SIMATS | Chennai">
              <a:extLst>
                <a:ext uri="{FF2B5EF4-FFF2-40B4-BE49-F238E27FC236}">
                  <a16:creationId xmlns:a16="http://schemas.microsoft.com/office/drawing/2014/main" id="{AB7C323D-FC69-D808-EC34-EAEFF493FA74}"/>
                </a:ext>
              </a:extLst>
            </p:cNvPr>
            <p:cNvSpPr/>
            <p:nvPr/>
          </p:nvSpPr>
          <p:spPr>
            <a:xfrm>
              <a:off x="0" y="0"/>
              <a:ext cx="2513711" cy="2513711"/>
            </a:xfrm>
            <a:custGeom>
              <a:avLst/>
              <a:gdLst/>
              <a:ahLst/>
              <a:cxnLst/>
              <a:rect l="l" t="t" r="r" b="b"/>
              <a:pathLst>
                <a:path w="2513711" h="2513711">
                  <a:moveTo>
                    <a:pt x="0" y="0"/>
                  </a:moveTo>
                  <a:lnTo>
                    <a:pt x="2513711" y="0"/>
                  </a:lnTo>
                  <a:lnTo>
                    <a:pt x="2513711" y="2513711"/>
                  </a:lnTo>
                  <a:lnTo>
                    <a:pt x="0" y="2513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864598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02ECF6-9B94-2D61-CC0B-AF8CB05E9FAA}"/>
              </a:ext>
            </a:extLst>
          </p:cNvPr>
          <p:cNvSpPr txBox="1"/>
          <p:nvPr/>
        </p:nvSpPr>
        <p:spPr>
          <a:xfrm>
            <a:off x="520223" y="1418213"/>
            <a:ext cx="5389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Algorithm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D3A5D4-1F1C-41EB-4B89-EC2304ED15FD}"/>
              </a:ext>
            </a:extLst>
          </p:cNvPr>
          <p:cNvSpPr txBox="1"/>
          <p:nvPr/>
        </p:nvSpPr>
        <p:spPr>
          <a:xfrm>
            <a:off x="867356" y="2520175"/>
            <a:ext cx="968586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/>
              <a:t>Recursion Tree Method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Draw the recursion tree.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Divide the problem into two subproblems.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Compute the cost at each level.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Add all level costs.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Find the final time complexity.</a:t>
            </a:r>
          </a:p>
          <a:p>
            <a:endParaRPr lang="en-IN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99482BFB-0EC7-8BDE-DAFD-16099D7AF9A2}"/>
              </a:ext>
            </a:extLst>
          </p:cNvPr>
          <p:cNvGrpSpPr/>
          <p:nvPr/>
        </p:nvGrpSpPr>
        <p:grpSpPr>
          <a:xfrm>
            <a:off x="109023" y="103590"/>
            <a:ext cx="1516682" cy="1225678"/>
            <a:chOff x="0" y="0"/>
            <a:chExt cx="2022242" cy="2661932"/>
          </a:xfrm>
        </p:grpSpPr>
        <p:sp>
          <p:nvSpPr>
            <p:cNvPr id="5" name="Freeform 3" descr="Saveetha School of Engineering: Courses, Admission 2025, Fees, Scholarship,  Placements, Ranking">
              <a:extLst>
                <a:ext uri="{FF2B5EF4-FFF2-40B4-BE49-F238E27FC236}">
                  <a16:creationId xmlns:a16="http://schemas.microsoft.com/office/drawing/2014/main" id="{48BD26FB-6953-4592-0847-F2E883F8A12D}"/>
                </a:ext>
              </a:extLst>
            </p:cNvPr>
            <p:cNvSpPr/>
            <p:nvPr/>
          </p:nvSpPr>
          <p:spPr>
            <a:xfrm>
              <a:off x="0" y="0"/>
              <a:ext cx="2022221" cy="2661920"/>
            </a:xfrm>
            <a:custGeom>
              <a:avLst/>
              <a:gdLst/>
              <a:ahLst/>
              <a:cxnLst/>
              <a:rect l="l" t="t" r="r" b="b"/>
              <a:pathLst>
                <a:path w="2022221" h="2661920">
                  <a:moveTo>
                    <a:pt x="0" y="0"/>
                  </a:moveTo>
                  <a:lnTo>
                    <a:pt x="2022221" y="0"/>
                  </a:lnTo>
                  <a:lnTo>
                    <a:pt x="2022221" y="2661920"/>
                  </a:lnTo>
                  <a:lnTo>
                    <a:pt x="0" y="266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</p:sp>
      </p:grpSp>
      <p:grpSp>
        <p:nvGrpSpPr>
          <p:cNvPr id="6" name="Group 4">
            <a:extLst>
              <a:ext uri="{FF2B5EF4-FFF2-40B4-BE49-F238E27FC236}">
                <a16:creationId xmlns:a16="http://schemas.microsoft.com/office/drawing/2014/main" id="{2860F30F-84C8-55AC-BF83-2BCFD573F508}"/>
              </a:ext>
            </a:extLst>
          </p:cNvPr>
          <p:cNvGrpSpPr/>
          <p:nvPr/>
        </p:nvGrpSpPr>
        <p:grpSpPr>
          <a:xfrm>
            <a:off x="10065443" y="192523"/>
            <a:ext cx="1885256" cy="1225672"/>
            <a:chOff x="0" y="0"/>
            <a:chExt cx="2513674" cy="2513674"/>
          </a:xfrm>
        </p:grpSpPr>
        <p:sp>
          <p:nvSpPr>
            <p:cNvPr id="7" name="Freeform 5" descr="Saveetha Institute of Medical and Technical Sciences -SIMATS | Chennai">
              <a:extLst>
                <a:ext uri="{FF2B5EF4-FFF2-40B4-BE49-F238E27FC236}">
                  <a16:creationId xmlns:a16="http://schemas.microsoft.com/office/drawing/2014/main" id="{56E4CD00-8C60-8BB7-43CE-E4A966D16F6F}"/>
                </a:ext>
              </a:extLst>
            </p:cNvPr>
            <p:cNvSpPr/>
            <p:nvPr/>
          </p:nvSpPr>
          <p:spPr>
            <a:xfrm>
              <a:off x="0" y="0"/>
              <a:ext cx="2513711" cy="2513711"/>
            </a:xfrm>
            <a:custGeom>
              <a:avLst/>
              <a:gdLst/>
              <a:ahLst/>
              <a:cxnLst/>
              <a:rect l="l" t="t" r="r" b="b"/>
              <a:pathLst>
                <a:path w="2513711" h="2513711">
                  <a:moveTo>
                    <a:pt x="0" y="0"/>
                  </a:moveTo>
                  <a:lnTo>
                    <a:pt x="2513711" y="0"/>
                  </a:lnTo>
                  <a:lnTo>
                    <a:pt x="2513711" y="2513711"/>
                  </a:lnTo>
                  <a:lnTo>
                    <a:pt x="0" y="2513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516041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8477B9-DAEB-4CD2-D68B-0203FD232AC7}"/>
              </a:ext>
            </a:extLst>
          </p:cNvPr>
          <p:cNvSpPr txBox="1"/>
          <p:nvPr/>
        </p:nvSpPr>
        <p:spPr>
          <a:xfrm>
            <a:off x="657225" y="1284224"/>
            <a:ext cx="581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Algorithm / 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B5046-A819-FA84-F081-A9E486992A57}"/>
              </a:ext>
            </a:extLst>
          </p:cNvPr>
          <p:cNvSpPr txBox="1"/>
          <p:nvPr/>
        </p:nvSpPr>
        <p:spPr>
          <a:xfrm>
            <a:off x="1533525" y="2409825"/>
            <a:ext cx="6276975" cy="2943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384BE-4115-1A5F-F286-5770CDA5FF79}"/>
              </a:ext>
            </a:extLst>
          </p:cNvPr>
          <p:cNvSpPr txBox="1"/>
          <p:nvPr/>
        </p:nvSpPr>
        <p:spPr>
          <a:xfrm>
            <a:off x="1371600" y="1724025"/>
            <a:ext cx="5724525" cy="362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F9EB8B-0B98-3291-5E46-B18ACABE6074}"/>
              </a:ext>
            </a:extLst>
          </p:cNvPr>
          <p:cNvSpPr txBox="1"/>
          <p:nvPr/>
        </p:nvSpPr>
        <p:spPr>
          <a:xfrm>
            <a:off x="410104" y="2019300"/>
            <a:ext cx="962289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Input: T(n)=2T(n/2)+log n</a:t>
            </a:r>
          </a:p>
          <a:p>
            <a:endParaRPr lang="en-US" sz="2800" dirty="0"/>
          </a:p>
          <a:p>
            <a:r>
              <a:rPr lang="en-US" sz="2800" dirty="0"/>
              <a:t>1. Divide problem into two parts.</a:t>
            </a:r>
          </a:p>
          <a:p>
            <a:r>
              <a:rPr lang="en-US" sz="2800" dirty="0"/>
              <a:t>2. Continue until size becomes 1.</a:t>
            </a:r>
          </a:p>
          <a:p>
            <a:r>
              <a:rPr lang="en-US" sz="2800" dirty="0"/>
              <a:t>3. Compute cost at each level.</a:t>
            </a:r>
          </a:p>
          <a:p>
            <a:r>
              <a:rPr lang="en-US" sz="2800" dirty="0"/>
              <a:t>4. Add all costs.</a:t>
            </a:r>
          </a:p>
          <a:p>
            <a:r>
              <a:rPr lang="en-US" sz="2800" dirty="0"/>
              <a:t>5. Return total complexity.</a:t>
            </a:r>
            <a:endParaRPr lang="en-IN" sz="2800" dirty="0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CA0147A5-7B75-EE8C-BA73-568EE98F6712}"/>
              </a:ext>
            </a:extLst>
          </p:cNvPr>
          <p:cNvGrpSpPr/>
          <p:nvPr/>
        </p:nvGrpSpPr>
        <p:grpSpPr>
          <a:xfrm>
            <a:off x="252956" y="52790"/>
            <a:ext cx="1516682" cy="1256897"/>
            <a:chOff x="0" y="0"/>
            <a:chExt cx="2022242" cy="2661932"/>
          </a:xfrm>
        </p:grpSpPr>
        <p:sp>
          <p:nvSpPr>
            <p:cNvPr id="12" name="Freeform 3" descr="Saveetha School of Engineering: Courses, Admission 2025, Fees, Scholarship,  Placements, Ranking">
              <a:extLst>
                <a:ext uri="{FF2B5EF4-FFF2-40B4-BE49-F238E27FC236}">
                  <a16:creationId xmlns:a16="http://schemas.microsoft.com/office/drawing/2014/main" id="{E9BC3625-5019-E5D5-960A-F2B7A6862008}"/>
                </a:ext>
              </a:extLst>
            </p:cNvPr>
            <p:cNvSpPr/>
            <p:nvPr/>
          </p:nvSpPr>
          <p:spPr>
            <a:xfrm>
              <a:off x="0" y="0"/>
              <a:ext cx="2022221" cy="2661920"/>
            </a:xfrm>
            <a:custGeom>
              <a:avLst/>
              <a:gdLst/>
              <a:ahLst/>
              <a:cxnLst/>
              <a:rect l="l" t="t" r="r" b="b"/>
              <a:pathLst>
                <a:path w="2022221" h="2661920">
                  <a:moveTo>
                    <a:pt x="0" y="0"/>
                  </a:moveTo>
                  <a:lnTo>
                    <a:pt x="2022221" y="0"/>
                  </a:lnTo>
                  <a:lnTo>
                    <a:pt x="2022221" y="2661920"/>
                  </a:lnTo>
                  <a:lnTo>
                    <a:pt x="0" y="266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</p:sp>
      </p:grpSp>
      <p:grpSp>
        <p:nvGrpSpPr>
          <p:cNvPr id="13" name="Group 4">
            <a:extLst>
              <a:ext uri="{FF2B5EF4-FFF2-40B4-BE49-F238E27FC236}">
                <a16:creationId xmlns:a16="http://schemas.microsoft.com/office/drawing/2014/main" id="{09A6CDF7-7CD1-C029-F3C1-068F999335E8}"/>
              </a:ext>
            </a:extLst>
          </p:cNvPr>
          <p:cNvGrpSpPr/>
          <p:nvPr/>
        </p:nvGrpSpPr>
        <p:grpSpPr>
          <a:xfrm>
            <a:off x="10239010" y="152315"/>
            <a:ext cx="1885256" cy="998067"/>
            <a:chOff x="0" y="0"/>
            <a:chExt cx="2513674" cy="2513674"/>
          </a:xfrm>
        </p:grpSpPr>
        <p:sp>
          <p:nvSpPr>
            <p:cNvPr id="14" name="Freeform 5" descr="Saveetha Institute of Medical and Technical Sciences -SIMATS | Chennai">
              <a:extLst>
                <a:ext uri="{FF2B5EF4-FFF2-40B4-BE49-F238E27FC236}">
                  <a16:creationId xmlns:a16="http://schemas.microsoft.com/office/drawing/2014/main" id="{8705747A-B89C-16A6-DE4F-31F5D09D654A}"/>
                </a:ext>
              </a:extLst>
            </p:cNvPr>
            <p:cNvSpPr/>
            <p:nvPr/>
          </p:nvSpPr>
          <p:spPr>
            <a:xfrm>
              <a:off x="0" y="0"/>
              <a:ext cx="2513711" cy="2513711"/>
            </a:xfrm>
            <a:custGeom>
              <a:avLst/>
              <a:gdLst/>
              <a:ahLst/>
              <a:cxnLst/>
              <a:rect l="l" t="t" r="r" b="b"/>
              <a:pathLst>
                <a:path w="2513711" h="2513711">
                  <a:moveTo>
                    <a:pt x="0" y="0"/>
                  </a:moveTo>
                  <a:lnTo>
                    <a:pt x="2513711" y="0"/>
                  </a:lnTo>
                  <a:lnTo>
                    <a:pt x="2513711" y="2513711"/>
                  </a:lnTo>
                  <a:lnTo>
                    <a:pt x="0" y="2513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458596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69E906-49EB-C939-B305-B5AD10A873DE}"/>
              </a:ext>
            </a:extLst>
          </p:cNvPr>
          <p:cNvSpPr txBox="1"/>
          <p:nvPr/>
        </p:nvSpPr>
        <p:spPr>
          <a:xfrm>
            <a:off x="838200" y="1354667"/>
            <a:ext cx="5971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Working Example: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77AD98F6-2937-5DB0-4468-0A0E2D6CD7CD}"/>
              </a:ext>
            </a:extLst>
          </p:cNvPr>
          <p:cNvGrpSpPr/>
          <p:nvPr/>
        </p:nvGrpSpPr>
        <p:grpSpPr>
          <a:xfrm>
            <a:off x="248499" y="52789"/>
            <a:ext cx="1516682" cy="1200329"/>
            <a:chOff x="0" y="0"/>
            <a:chExt cx="2022242" cy="2661932"/>
          </a:xfrm>
        </p:grpSpPr>
        <p:sp>
          <p:nvSpPr>
            <p:cNvPr id="6" name="Freeform 3" descr="Saveetha School of Engineering: Courses, Admission 2025, Fees, Scholarship,  Placements, Ranking">
              <a:extLst>
                <a:ext uri="{FF2B5EF4-FFF2-40B4-BE49-F238E27FC236}">
                  <a16:creationId xmlns:a16="http://schemas.microsoft.com/office/drawing/2014/main" id="{4FAEC7F3-FED4-E265-B030-92EE05CA9CC1}"/>
                </a:ext>
              </a:extLst>
            </p:cNvPr>
            <p:cNvSpPr/>
            <p:nvPr/>
          </p:nvSpPr>
          <p:spPr>
            <a:xfrm>
              <a:off x="0" y="0"/>
              <a:ext cx="2022221" cy="2661920"/>
            </a:xfrm>
            <a:custGeom>
              <a:avLst/>
              <a:gdLst/>
              <a:ahLst/>
              <a:cxnLst/>
              <a:rect l="l" t="t" r="r" b="b"/>
              <a:pathLst>
                <a:path w="2022221" h="2661920">
                  <a:moveTo>
                    <a:pt x="0" y="0"/>
                  </a:moveTo>
                  <a:lnTo>
                    <a:pt x="2022221" y="0"/>
                  </a:lnTo>
                  <a:lnTo>
                    <a:pt x="2022221" y="2661920"/>
                  </a:lnTo>
                  <a:lnTo>
                    <a:pt x="0" y="266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</p:sp>
      </p:grpSp>
      <p:grpSp>
        <p:nvGrpSpPr>
          <p:cNvPr id="7" name="Group 4">
            <a:extLst>
              <a:ext uri="{FF2B5EF4-FFF2-40B4-BE49-F238E27FC236}">
                <a16:creationId xmlns:a16="http://schemas.microsoft.com/office/drawing/2014/main" id="{F461518A-BE3A-59F9-56B0-26CAA10552B0}"/>
              </a:ext>
            </a:extLst>
          </p:cNvPr>
          <p:cNvGrpSpPr/>
          <p:nvPr/>
        </p:nvGrpSpPr>
        <p:grpSpPr>
          <a:xfrm>
            <a:off x="10312400" y="153917"/>
            <a:ext cx="1739900" cy="998067"/>
            <a:chOff x="0" y="0"/>
            <a:chExt cx="2513674" cy="2513674"/>
          </a:xfrm>
        </p:grpSpPr>
        <p:sp>
          <p:nvSpPr>
            <p:cNvPr id="8" name="Freeform 5" descr="Saveetha Institute of Medical and Technical Sciences -SIMATS | Chennai">
              <a:extLst>
                <a:ext uri="{FF2B5EF4-FFF2-40B4-BE49-F238E27FC236}">
                  <a16:creationId xmlns:a16="http://schemas.microsoft.com/office/drawing/2014/main" id="{C0F95B2E-32B3-E213-B098-FE73E7ECFDD2}"/>
                </a:ext>
              </a:extLst>
            </p:cNvPr>
            <p:cNvSpPr/>
            <p:nvPr/>
          </p:nvSpPr>
          <p:spPr>
            <a:xfrm>
              <a:off x="0" y="0"/>
              <a:ext cx="2513711" cy="2513711"/>
            </a:xfrm>
            <a:custGeom>
              <a:avLst/>
              <a:gdLst/>
              <a:ahLst/>
              <a:cxnLst/>
              <a:rect l="l" t="t" r="r" b="b"/>
              <a:pathLst>
                <a:path w="2513711" h="2513711">
                  <a:moveTo>
                    <a:pt x="0" y="0"/>
                  </a:moveTo>
                  <a:lnTo>
                    <a:pt x="2513711" y="0"/>
                  </a:lnTo>
                  <a:lnTo>
                    <a:pt x="2513711" y="2513711"/>
                  </a:lnTo>
                  <a:lnTo>
                    <a:pt x="0" y="2513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D7DCE0-E89D-AA55-FFF5-38E28223F6EA}"/>
              </a:ext>
            </a:extLst>
          </p:cNvPr>
          <p:cNvSpPr txBox="1"/>
          <p:nvPr/>
        </p:nvSpPr>
        <p:spPr>
          <a:xfrm>
            <a:off x="1006832" y="1973119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Recursion Tree</a:t>
            </a:r>
          </a:p>
          <a:p>
            <a:pPr rtl="0">
              <a:buNone/>
            </a:pPr>
            <a:r>
              <a:rPr lang="en-IN" sz="2800" dirty="0">
                <a:latin typeface="Courier New" panose="02070309020205020404" pitchFamily="49" charset="0"/>
              </a:rPr>
              <a:t>          log n</a:t>
            </a:r>
          </a:p>
          <a:p>
            <a:pPr rtl="0">
              <a:buNone/>
            </a:pPr>
            <a:r>
              <a:rPr lang="en-IN" sz="2800" dirty="0">
                <a:latin typeface="Courier New" panose="02070309020205020404" pitchFamily="49" charset="0"/>
              </a:rPr>
              <a:t>         /     \</a:t>
            </a:r>
          </a:p>
          <a:p>
            <a:pPr rtl="0">
              <a:buNone/>
            </a:pPr>
            <a:r>
              <a:rPr lang="en-IN" sz="2800" dirty="0">
                <a:latin typeface="Courier New" panose="02070309020205020404" pitchFamily="49" charset="0"/>
              </a:rPr>
              <a:t>   log(n/2)  log(n/2)</a:t>
            </a:r>
          </a:p>
          <a:p>
            <a:pPr rtl="0">
              <a:buNone/>
            </a:pPr>
            <a:r>
              <a:rPr lang="en-IN" sz="2800" dirty="0">
                <a:latin typeface="Courier New" panose="02070309020205020404" pitchFamily="49" charset="0"/>
              </a:rPr>
              <a:t>     /   \      /   \</a:t>
            </a:r>
          </a:p>
          <a:p>
            <a:pPr rtl="0">
              <a:buNone/>
            </a:pPr>
            <a:r>
              <a:rPr lang="en-IN" sz="2800" dirty="0">
                <a:latin typeface="Courier New" panose="02070309020205020404" pitchFamily="49" charset="0"/>
              </a:rPr>
              <a:t>log(n/4) ... log(n/4)</a:t>
            </a:r>
          </a:p>
          <a:p>
            <a:pPr>
              <a:buNone/>
            </a:pPr>
            <a:r>
              <a:rPr lang="en-IN" sz="2800" b="1" dirty="0"/>
              <a:t>Level-wise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Level 0 → log 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Level 1 → 2log(n/2)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Level 2 → 4log(n/4)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Height = log n</a:t>
            </a:r>
          </a:p>
        </p:txBody>
      </p:sp>
    </p:spTree>
    <p:extLst>
      <p:ext uri="{BB962C8B-B14F-4D97-AF65-F5344CB8AC3E}">
        <p14:creationId xmlns:p14="http://schemas.microsoft.com/office/powerpoint/2010/main" val="311456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996480-7213-AE57-56C4-F5149009D358}"/>
              </a:ext>
            </a:extLst>
          </p:cNvPr>
          <p:cNvSpPr txBox="1"/>
          <p:nvPr/>
        </p:nvSpPr>
        <p:spPr>
          <a:xfrm>
            <a:off x="558800" y="1498476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1FEF8C-6E49-9E1E-59F3-55707CEE8510}"/>
                  </a:ext>
                </a:extLst>
              </p:cNvPr>
              <p:cNvSpPr txBox="1"/>
              <p:nvPr/>
            </p:nvSpPr>
            <p:spPr>
              <a:xfrm>
                <a:off x="452967" y="2495549"/>
                <a:ext cx="8486775" cy="4143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b="1" dirty="0"/>
                  <a:t>Time Complexity</a:t>
                </a:r>
              </a:p>
              <a:p>
                <a:r>
                  <a:rPr lang="en-IN" sz="2800" dirty="0"/>
                  <a:t>                 Total Cost: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IN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IN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b="1" dirty="0"/>
                  <a:t>Final Complexity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latin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en-IN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b="1" dirty="0"/>
                  <a:t>Space Complexity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IN" sz="28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1FEF8C-6E49-9E1E-59F3-55707CEE8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7" y="2495549"/>
                <a:ext cx="8486775" cy="4143250"/>
              </a:xfrm>
              <a:prstGeom prst="rect">
                <a:avLst/>
              </a:prstGeom>
              <a:blipFill>
                <a:blip r:embed="rId2"/>
                <a:stretch>
                  <a:fillRect l="-1293" t="-14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2">
            <a:extLst>
              <a:ext uri="{FF2B5EF4-FFF2-40B4-BE49-F238E27FC236}">
                <a16:creationId xmlns:a16="http://schemas.microsoft.com/office/drawing/2014/main" id="{016BCEF8-342A-1F4D-608C-BFD0D2DEBD4E}"/>
              </a:ext>
            </a:extLst>
          </p:cNvPr>
          <p:cNvGrpSpPr/>
          <p:nvPr/>
        </p:nvGrpSpPr>
        <p:grpSpPr>
          <a:xfrm>
            <a:off x="252956" y="52789"/>
            <a:ext cx="1516682" cy="1094951"/>
            <a:chOff x="0" y="0"/>
            <a:chExt cx="2022242" cy="2661932"/>
          </a:xfrm>
        </p:grpSpPr>
        <p:sp>
          <p:nvSpPr>
            <p:cNvPr id="5" name="Freeform 3" descr="Saveetha School of Engineering: Courses, Admission 2025, Fees, Scholarship,  Placements, Ranking">
              <a:extLst>
                <a:ext uri="{FF2B5EF4-FFF2-40B4-BE49-F238E27FC236}">
                  <a16:creationId xmlns:a16="http://schemas.microsoft.com/office/drawing/2014/main" id="{FB020DE1-68CB-E66F-6D97-D1C1093121AA}"/>
                </a:ext>
              </a:extLst>
            </p:cNvPr>
            <p:cNvSpPr/>
            <p:nvPr/>
          </p:nvSpPr>
          <p:spPr>
            <a:xfrm>
              <a:off x="0" y="0"/>
              <a:ext cx="2022221" cy="2661920"/>
            </a:xfrm>
            <a:custGeom>
              <a:avLst/>
              <a:gdLst/>
              <a:ahLst/>
              <a:cxnLst/>
              <a:rect l="l" t="t" r="r" b="b"/>
              <a:pathLst>
                <a:path w="2022221" h="2661920">
                  <a:moveTo>
                    <a:pt x="0" y="0"/>
                  </a:moveTo>
                  <a:lnTo>
                    <a:pt x="2022221" y="0"/>
                  </a:lnTo>
                  <a:lnTo>
                    <a:pt x="2022221" y="2661920"/>
                  </a:lnTo>
                  <a:lnTo>
                    <a:pt x="0" y="266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6" name="Group 4">
            <a:extLst>
              <a:ext uri="{FF2B5EF4-FFF2-40B4-BE49-F238E27FC236}">
                <a16:creationId xmlns:a16="http://schemas.microsoft.com/office/drawing/2014/main" id="{3282AB7F-1CBA-0510-F4EF-47DAE9F5910F}"/>
              </a:ext>
            </a:extLst>
          </p:cNvPr>
          <p:cNvGrpSpPr/>
          <p:nvPr/>
        </p:nvGrpSpPr>
        <p:grpSpPr>
          <a:xfrm>
            <a:off x="10201275" y="149658"/>
            <a:ext cx="1639358" cy="998067"/>
            <a:chOff x="0" y="0"/>
            <a:chExt cx="2513674" cy="2513674"/>
          </a:xfrm>
        </p:grpSpPr>
        <p:sp>
          <p:nvSpPr>
            <p:cNvPr id="7" name="Freeform 5" descr="Saveetha Institute of Medical and Technical Sciences -SIMATS | Chennai">
              <a:extLst>
                <a:ext uri="{FF2B5EF4-FFF2-40B4-BE49-F238E27FC236}">
                  <a16:creationId xmlns:a16="http://schemas.microsoft.com/office/drawing/2014/main" id="{FB8BD585-B37D-2A5B-405B-DDD6E78EBAF8}"/>
                </a:ext>
              </a:extLst>
            </p:cNvPr>
            <p:cNvSpPr/>
            <p:nvPr/>
          </p:nvSpPr>
          <p:spPr>
            <a:xfrm>
              <a:off x="0" y="0"/>
              <a:ext cx="2513711" cy="2513711"/>
            </a:xfrm>
            <a:custGeom>
              <a:avLst/>
              <a:gdLst/>
              <a:ahLst/>
              <a:cxnLst/>
              <a:rect l="l" t="t" r="r" b="b"/>
              <a:pathLst>
                <a:path w="2513711" h="2513711">
                  <a:moveTo>
                    <a:pt x="0" y="0"/>
                  </a:moveTo>
                  <a:lnTo>
                    <a:pt x="2513711" y="0"/>
                  </a:lnTo>
                  <a:lnTo>
                    <a:pt x="2513711" y="2513711"/>
                  </a:lnTo>
                  <a:lnTo>
                    <a:pt x="0" y="2513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446558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4D4079-43B2-E039-668F-6DFE3A3A90BA}"/>
              </a:ext>
            </a:extLst>
          </p:cNvPr>
          <p:cNvGrpSpPr/>
          <p:nvPr/>
        </p:nvGrpSpPr>
        <p:grpSpPr>
          <a:xfrm>
            <a:off x="252956" y="52789"/>
            <a:ext cx="1516682" cy="1094951"/>
            <a:chOff x="0" y="0"/>
            <a:chExt cx="2022242" cy="2661932"/>
          </a:xfrm>
        </p:grpSpPr>
        <p:sp>
          <p:nvSpPr>
            <p:cNvPr id="3" name="Freeform 3" descr="Saveetha School of Engineering: Courses, Admission 2025, Fees, Scholarship,  Placements, Ranking">
              <a:extLst>
                <a:ext uri="{FF2B5EF4-FFF2-40B4-BE49-F238E27FC236}">
                  <a16:creationId xmlns:a16="http://schemas.microsoft.com/office/drawing/2014/main" id="{362CFF38-1ACD-CF38-CD7A-0B091BA15A42}"/>
                </a:ext>
              </a:extLst>
            </p:cNvPr>
            <p:cNvSpPr/>
            <p:nvPr/>
          </p:nvSpPr>
          <p:spPr>
            <a:xfrm>
              <a:off x="0" y="0"/>
              <a:ext cx="2022221" cy="2661920"/>
            </a:xfrm>
            <a:custGeom>
              <a:avLst/>
              <a:gdLst/>
              <a:ahLst/>
              <a:cxnLst/>
              <a:rect l="l" t="t" r="r" b="b"/>
              <a:pathLst>
                <a:path w="2022221" h="2661920">
                  <a:moveTo>
                    <a:pt x="0" y="0"/>
                  </a:moveTo>
                  <a:lnTo>
                    <a:pt x="2022221" y="0"/>
                  </a:lnTo>
                  <a:lnTo>
                    <a:pt x="2022221" y="2661920"/>
                  </a:lnTo>
                  <a:lnTo>
                    <a:pt x="0" y="266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75845F1-F4C6-45A9-3128-D1A7F9197D3E}"/>
              </a:ext>
            </a:extLst>
          </p:cNvPr>
          <p:cNvGrpSpPr/>
          <p:nvPr/>
        </p:nvGrpSpPr>
        <p:grpSpPr>
          <a:xfrm>
            <a:off x="10312400" y="153917"/>
            <a:ext cx="1739900" cy="998067"/>
            <a:chOff x="0" y="0"/>
            <a:chExt cx="2513674" cy="2513674"/>
          </a:xfrm>
        </p:grpSpPr>
        <p:sp>
          <p:nvSpPr>
            <p:cNvPr id="5" name="Freeform 5" descr="Saveetha Institute of Medical and Technical Sciences -SIMATS | Chennai">
              <a:extLst>
                <a:ext uri="{FF2B5EF4-FFF2-40B4-BE49-F238E27FC236}">
                  <a16:creationId xmlns:a16="http://schemas.microsoft.com/office/drawing/2014/main" id="{B68D2483-00E7-DEE1-106B-8CF060CF1C4B}"/>
                </a:ext>
              </a:extLst>
            </p:cNvPr>
            <p:cNvSpPr/>
            <p:nvPr/>
          </p:nvSpPr>
          <p:spPr>
            <a:xfrm>
              <a:off x="0" y="0"/>
              <a:ext cx="2513711" cy="2513711"/>
            </a:xfrm>
            <a:custGeom>
              <a:avLst/>
              <a:gdLst/>
              <a:ahLst/>
              <a:cxnLst/>
              <a:rect l="l" t="t" r="r" b="b"/>
              <a:pathLst>
                <a:path w="2513711" h="2513711">
                  <a:moveTo>
                    <a:pt x="0" y="0"/>
                  </a:moveTo>
                  <a:lnTo>
                    <a:pt x="2513711" y="0"/>
                  </a:lnTo>
                  <a:lnTo>
                    <a:pt x="2513711" y="2513711"/>
                  </a:lnTo>
                  <a:lnTo>
                    <a:pt x="0" y="2513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3D218C5-B2FC-93BA-81D3-304265F9D6FC}"/>
              </a:ext>
            </a:extLst>
          </p:cNvPr>
          <p:cNvSpPr txBox="1"/>
          <p:nvPr/>
        </p:nvSpPr>
        <p:spPr>
          <a:xfrm>
            <a:off x="1591733" y="1354666"/>
            <a:ext cx="415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Applications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BD7243-3C94-B554-B123-F93CFD2C8DAE}"/>
              </a:ext>
            </a:extLst>
          </p:cNvPr>
          <p:cNvSpPr txBox="1"/>
          <p:nvPr/>
        </p:nvSpPr>
        <p:spPr>
          <a:xfrm>
            <a:off x="922867" y="2333236"/>
            <a:ext cx="67564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Merge Sort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Quick Sort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Binary Search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Divide-and-Conquer Algorithms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Algorithm Complexity Analysis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09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B4755A-5E27-406F-1CF6-50BF92F1CE7C}"/>
              </a:ext>
            </a:extLst>
          </p:cNvPr>
          <p:cNvSpPr txBox="1"/>
          <p:nvPr/>
        </p:nvSpPr>
        <p:spPr>
          <a:xfrm>
            <a:off x="1312333" y="1244600"/>
            <a:ext cx="5113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E027FC4-F2EF-F62A-3AA2-07BADE99CC38}"/>
              </a:ext>
            </a:extLst>
          </p:cNvPr>
          <p:cNvGrpSpPr/>
          <p:nvPr/>
        </p:nvGrpSpPr>
        <p:grpSpPr>
          <a:xfrm>
            <a:off x="252956" y="52789"/>
            <a:ext cx="1516682" cy="1094951"/>
            <a:chOff x="0" y="0"/>
            <a:chExt cx="2022242" cy="2661932"/>
          </a:xfrm>
        </p:grpSpPr>
        <p:sp>
          <p:nvSpPr>
            <p:cNvPr id="4" name="Freeform 3" descr="Saveetha School of Engineering: Courses, Admission 2025, Fees, Scholarship,  Placements, Ranking">
              <a:extLst>
                <a:ext uri="{FF2B5EF4-FFF2-40B4-BE49-F238E27FC236}">
                  <a16:creationId xmlns:a16="http://schemas.microsoft.com/office/drawing/2014/main" id="{EDDF8698-DBE0-C0C8-93BC-278AE253045B}"/>
                </a:ext>
              </a:extLst>
            </p:cNvPr>
            <p:cNvSpPr/>
            <p:nvPr/>
          </p:nvSpPr>
          <p:spPr>
            <a:xfrm>
              <a:off x="0" y="0"/>
              <a:ext cx="2022221" cy="2661920"/>
            </a:xfrm>
            <a:custGeom>
              <a:avLst/>
              <a:gdLst/>
              <a:ahLst/>
              <a:cxnLst/>
              <a:rect l="l" t="t" r="r" b="b"/>
              <a:pathLst>
                <a:path w="2022221" h="2661920">
                  <a:moveTo>
                    <a:pt x="0" y="0"/>
                  </a:moveTo>
                  <a:lnTo>
                    <a:pt x="2022221" y="0"/>
                  </a:lnTo>
                  <a:lnTo>
                    <a:pt x="2022221" y="2661920"/>
                  </a:lnTo>
                  <a:lnTo>
                    <a:pt x="0" y="266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E3E58F9-6709-A246-FA9D-3D2E370001DA}"/>
              </a:ext>
            </a:extLst>
          </p:cNvPr>
          <p:cNvGrpSpPr/>
          <p:nvPr/>
        </p:nvGrpSpPr>
        <p:grpSpPr>
          <a:xfrm>
            <a:off x="10312400" y="153917"/>
            <a:ext cx="1739900" cy="998067"/>
            <a:chOff x="0" y="0"/>
            <a:chExt cx="2513674" cy="2513674"/>
          </a:xfrm>
        </p:grpSpPr>
        <p:sp>
          <p:nvSpPr>
            <p:cNvPr id="6" name="Freeform 5" descr="Saveetha Institute of Medical and Technical Sciences -SIMATS | Chennai">
              <a:extLst>
                <a:ext uri="{FF2B5EF4-FFF2-40B4-BE49-F238E27FC236}">
                  <a16:creationId xmlns:a16="http://schemas.microsoft.com/office/drawing/2014/main" id="{6D318BF9-EC04-1E40-5854-0DEE757E77BB}"/>
                </a:ext>
              </a:extLst>
            </p:cNvPr>
            <p:cNvSpPr/>
            <p:nvPr/>
          </p:nvSpPr>
          <p:spPr>
            <a:xfrm>
              <a:off x="0" y="0"/>
              <a:ext cx="2513711" cy="2513711"/>
            </a:xfrm>
            <a:custGeom>
              <a:avLst/>
              <a:gdLst/>
              <a:ahLst/>
              <a:cxnLst/>
              <a:rect l="l" t="t" r="r" b="b"/>
              <a:pathLst>
                <a:path w="2513711" h="2513711">
                  <a:moveTo>
                    <a:pt x="0" y="0"/>
                  </a:moveTo>
                  <a:lnTo>
                    <a:pt x="2513711" y="0"/>
                  </a:lnTo>
                  <a:lnTo>
                    <a:pt x="2513711" y="2513711"/>
                  </a:lnTo>
                  <a:lnTo>
                    <a:pt x="0" y="2513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E20402-E03D-C96F-C36B-2A0673B91197}"/>
                  </a:ext>
                </a:extLst>
              </p:cNvPr>
              <p:cNvSpPr txBox="1"/>
              <p:nvPr/>
            </p:nvSpPr>
            <p:spPr>
              <a:xfrm>
                <a:off x="444023" y="1890931"/>
                <a:ext cx="9982200" cy="2822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 recursion tree has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IN" sz="2800" dirty="0"/>
                  <a:t>levels.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 number of leaf nodes is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/>
                  <a:t>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 total cost is dominated by the leaf level.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 overall time complexity is: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IN" sz="28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latin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E20402-E03D-C96F-C36B-2A0673B91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023" y="1890931"/>
                <a:ext cx="9982200" cy="2822889"/>
              </a:xfrm>
              <a:prstGeom prst="rect">
                <a:avLst/>
              </a:prstGeom>
              <a:blipFill>
                <a:blip r:embed="rId4"/>
                <a:stretch>
                  <a:fillRect l="-11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556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62495BAE-5A1A-0115-34B1-498D6579E542}"/>
              </a:ext>
            </a:extLst>
          </p:cNvPr>
          <p:cNvSpPr/>
          <p:nvPr/>
        </p:nvSpPr>
        <p:spPr>
          <a:xfrm>
            <a:off x="252956" y="52789"/>
            <a:ext cx="1516666" cy="1094946"/>
          </a:xfrm>
          <a:custGeom>
            <a:avLst/>
            <a:gdLst/>
            <a:ahLst/>
            <a:cxnLst/>
            <a:rect l="l" t="t" r="r" b="b"/>
            <a:pathLst>
              <a:path w="2022221" h="2661920">
                <a:moveTo>
                  <a:pt x="0" y="0"/>
                </a:moveTo>
                <a:lnTo>
                  <a:pt x="2022221" y="0"/>
                </a:lnTo>
                <a:lnTo>
                  <a:pt x="2022221" y="2661920"/>
                </a:lnTo>
                <a:lnTo>
                  <a:pt x="0" y="2661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0D95DFA-6560-CA26-7420-AF0C31034798}"/>
              </a:ext>
            </a:extLst>
          </p:cNvPr>
          <p:cNvGrpSpPr/>
          <p:nvPr/>
        </p:nvGrpSpPr>
        <p:grpSpPr>
          <a:xfrm>
            <a:off x="10312400" y="153917"/>
            <a:ext cx="1739900" cy="998067"/>
            <a:chOff x="0" y="0"/>
            <a:chExt cx="2513674" cy="2513674"/>
          </a:xfrm>
        </p:grpSpPr>
        <p:sp>
          <p:nvSpPr>
            <p:cNvPr id="5" name="Freeform 5" descr="Saveetha Institute of Medical and Technical Sciences -SIMATS | Chennai">
              <a:extLst>
                <a:ext uri="{FF2B5EF4-FFF2-40B4-BE49-F238E27FC236}">
                  <a16:creationId xmlns:a16="http://schemas.microsoft.com/office/drawing/2014/main" id="{DB40ACA7-6C6D-A4FA-3894-BDF31C9076C3}"/>
                </a:ext>
              </a:extLst>
            </p:cNvPr>
            <p:cNvSpPr/>
            <p:nvPr/>
          </p:nvSpPr>
          <p:spPr>
            <a:xfrm>
              <a:off x="0" y="0"/>
              <a:ext cx="2513711" cy="2513711"/>
            </a:xfrm>
            <a:custGeom>
              <a:avLst/>
              <a:gdLst/>
              <a:ahLst/>
              <a:cxnLst/>
              <a:rect l="l" t="t" r="r" b="b"/>
              <a:pathLst>
                <a:path w="2513711" h="2513711">
                  <a:moveTo>
                    <a:pt x="0" y="0"/>
                  </a:moveTo>
                  <a:lnTo>
                    <a:pt x="2513711" y="0"/>
                  </a:lnTo>
                  <a:lnTo>
                    <a:pt x="2513711" y="2513711"/>
                  </a:lnTo>
                  <a:lnTo>
                    <a:pt x="0" y="2513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D3BFC2D-E3C3-F93E-96E6-7025DE5BA054}"/>
              </a:ext>
            </a:extLst>
          </p:cNvPr>
          <p:cNvSpPr txBox="1"/>
          <p:nvPr/>
        </p:nvSpPr>
        <p:spPr>
          <a:xfrm>
            <a:off x="1011289" y="1481667"/>
            <a:ext cx="5300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18C4CE-5392-510C-8511-FF8679787EAD}"/>
                  </a:ext>
                </a:extLst>
              </p:cNvPr>
              <p:cNvSpPr txBox="1"/>
              <p:nvPr/>
            </p:nvSpPr>
            <p:spPr>
              <a:xfrm>
                <a:off x="783166" y="2328334"/>
                <a:ext cx="10625667" cy="3530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 recurrence relation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 sz="280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80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IN" sz="280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IN" sz="2800" dirty="0"/>
                  <a:t>was </a:t>
                </a:r>
                <a:r>
                  <a:rPr lang="en-IN" sz="2800" dirty="0" err="1"/>
                  <a:t>analyzed</a:t>
                </a:r>
                <a:r>
                  <a:rPr lang="en-IN" sz="2800" dirty="0"/>
                  <a:t> using the </a:t>
                </a:r>
                <a:r>
                  <a:rPr lang="en-IN" sz="2800" b="1" dirty="0"/>
                  <a:t>Recursion Tree Method</a:t>
                </a:r>
                <a:r>
                  <a:rPr lang="en-IN" sz="2800" dirty="0"/>
                  <a:t>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 cost at each level was calculated and summed.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 overall time complexity is: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borderBox>
                      <m:borderBox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IN" sz="28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800"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borderBox>
                  </m:oMath>
                </a14:m>
                <a:endParaRPr lang="en-IN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 result was verified using the </a:t>
                </a:r>
                <a:r>
                  <a:rPr lang="en-IN" sz="2800" b="1" dirty="0"/>
                  <a:t>Master Theorem</a:t>
                </a:r>
                <a:r>
                  <a:rPr lang="en-IN" sz="2800" dirty="0"/>
                  <a:t>, and both methods produced the same complexity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18C4CE-5392-510C-8511-FF8679787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66" y="2328334"/>
                <a:ext cx="10625667" cy="3530775"/>
              </a:xfrm>
              <a:prstGeom prst="rect">
                <a:avLst/>
              </a:prstGeom>
              <a:blipFill>
                <a:blip r:embed="rId4"/>
                <a:stretch>
                  <a:fillRect l="-1032" t="-19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605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C3CF89-CE85-EE7B-31C7-66E8399C37EE}"/>
              </a:ext>
            </a:extLst>
          </p:cNvPr>
          <p:cNvSpPr txBox="1"/>
          <p:nvPr/>
        </p:nvSpPr>
        <p:spPr>
          <a:xfrm>
            <a:off x="2760134" y="2324100"/>
            <a:ext cx="7797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0" b="1" dirty="0"/>
              <a:t>Thank You</a:t>
            </a:r>
            <a:endParaRPr lang="en-IN" sz="11000" b="1" dirty="0"/>
          </a:p>
        </p:txBody>
      </p:sp>
    </p:spTree>
    <p:extLst>
      <p:ext uri="{BB962C8B-B14F-4D97-AF65-F5344CB8AC3E}">
        <p14:creationId xmlns:p14="http://schemas.microsoft.com/office/powerpoint/2010/main" val="2357600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0C9C74-F226-9416-0CFC-B92067C64C43}"/>
              </a:ext>
            </a:extLst>
          </p:cNvPr>
          <p:cNvSpPr txBox="1"/>
          <p:nvPr/>
        </p:nvSpPr>
        <p:spPr>
          <a:xfrm>
            <a:off x="982133" y="533400"/>
            <a:ext cx="4817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Geotag photo: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FF681B-1BE8-7DFD-32B4-9A5ED3F19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933" y="1380066"/>
            <a:ext cx="7323667" cy="476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39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315</TotalTime>
  <Words>414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Cambria Math</vt:lpstr>
      <vt:lpstr>Courier New</vt:lpstr>
      <vt:lpstr>Times New Roman</vt:lpstr>
      <vt:lpstr>Times New Roman Bold</vt:lpstr>
      <vt:lpstr>Wingdings</vt:lpstr>
      <vt:lpstr>Office Theme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Gudi Rama Krishna</dc:creator>
  <cp:lastModifiedBy>Gudi Rama Krishna</cp:lastModifiedBy>
  <cp:revision>3</cp:revision>
  <dcterms:created xsi:type="dcterms:W3CDTF">2026-07-16T11:27:53Z</dcterms:created>
  <dcterms:modified xsi:type="dcterms:W3CDTF">2026-07-24T06:23:29Z</dcterms:modified>
</cp:coreProperties>
</file>